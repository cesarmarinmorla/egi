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201168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840480" cy="38404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68680" cy="8686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icons/serve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413" y="97269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1031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EGI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Inventario de Equipos de Laboratorio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22960" y="3977640"/>
            <a:ext cx="38404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Tecnológico Universitario (ITU) — Mendoza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470916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López Videla Maximiliano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Becerra Micaela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Rossi Franco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Cesar Marín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6263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manual de equipos en laboratorios universitarios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EAF1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20116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clipboar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7919" y="218655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71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Planillas dispersas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5661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llevado en Excel o papel, sin una fuente única de verdad.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29000" y="169164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EAF1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3400" y="20116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s/use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279" y="2186559"/>
            <a:ext cx="427482" cy="4274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971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control de acceso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57600" y="35661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persona con la planilla puede ver o editar todo el inventario.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09360" y="169164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EAF1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23760" y="20116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icons/networ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639" y="2186559"/>
            <a:ext cx="427482" cy="4274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2971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desactualizados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537960" y="35661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de hardware entre laboratorios no se reflejan a tiempo.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89720" y="169164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EAF1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104120" y="20116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icons/sitemap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8999" y="2186559"/>
            <a:ext cx="427482" cy="4274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72600" y="2971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418320" y="35661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queda registro de quién modificó qué equipo, ni cuándo.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5166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tiempo perdido en auditorías, riesgo de pérdida de equipos y nula seguridad sobre quién accede a la información.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EGI — Sistema de Gestión de Inventario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 centralizado con autenticación corporativa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s/usershiel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519" y="1866519"/>
            <a:ext cx="427482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6459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por Active Directory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54480" y="20574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real contra AD vía LDAP — sin usuarios ni contraseñas propios del sistema.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852928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icons/shiel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19" y="3027807"/>
            <a:ext cx="427482" cy="42748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80720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permisos (RBAC)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554480" y="321868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sysadmin, manager, editor, operator y readonly, derivados de los grupos AD del usuario.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4014216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icons/networ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19" y="4189095"/>
            <a:ext cx="427482" cy="42748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96849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por laboratorio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554480" y="4379976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usuario ve y opera únicamente sobre los laboratorios que le corresponden.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5175504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icons/reac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519" y="5350383"/>
            <a:ext cx="427482" cy="42748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512978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web moderna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554480" y="5541264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en React + TypeScript consumiendo una API REST en Express.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7040880" y="1691640"/>
            <a:ext cx="4526280" cy="4526280"/>
          </a:xfrm>
          <a:prstGeom prst="roundRect">
            <a:avLst>
              <a:gd name="adj" fmla="val 161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7360920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mapeo de rol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360920" y="2606040"/>
            <a:ext cx="3931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AD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GRP_Editor_Lab101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mapAdGroupToRole()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asignado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Laboratorios habilitados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['Lab 101']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EGI — Sistema de Gestión de Inventario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 + Active Directory + SQL Server + Lubuntu con Minikube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920240" cy="4206240"/>
          </a:xfrm>
          <a:prstGeom prst="roundRect">
            <a:avLst>
              <a:gd name="adj" fmla="val 3810"/>
            </a:avLst>
          </a:prstGeom>
          <a:solidFill>
            <a:srgbClr val="EAF1FC"/>
          </a:solidFill>
          <a:ln/>
        </p:spPr>
      </p:sp>
      <p:sp>
        <p:nvSpPr>
          <p:cNvPr id="5" name="Shape 3"/>
          <p:cNvSpPr/>
          <p:nvPr/>
        </p:nvSpPr>
        <p:spPr>
          <a:xfrm>
            <a:off x="1120140" y="21031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networ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4445" y="225742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971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33375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/ NAT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 ↔ LAN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88920" y="1828800"/>
            <a:ext cx="2194560" cy="1965960"/>
          </a:xfrm>
          <a:prstGeom prst="roundRect">
            <a:avLst>
              <a:gd name="adj" fmla="val 3721"/>
            </a:avLst>
          </a:prstGeom>
          <a:solidFill>
            <a:srgbClr val="EAF1FC"/>
          </a:solidFill>
          <a:ln/>
        </p:spPr>
      </p:sp>
      <p:sp>
        <p:nvSpPr>
          <p:cNvPr id="10" name="Shape 7"/>
          <p:cNvSpPr/>
          <p:nvPr/>
        </p:nvSpPr>
        <p:spPr>
          <a:xfrm>
            <a:off x="3314700" y="20574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s/usershiel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431" y="2191131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80360" y="274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880360" y="3063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192.168.1.10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OU=EGI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788920" y="4069080"/>
            <a:ext cx="2194560" cy="1965960"/>
          </a:xfrm>
          <a:prstGeom prst="roundRect">
            <a:avLst>
              <a:gd name="adj" fmla="val 3721"/>
            </a:avLst>
          </a:prstGeom>
          <a:solidFill>
            <a:srgbClr val="EAF1FC"/>
          </a:solidFill>
          <a:ln/>
        </p:spPr>
      </p:sp>
      <p:sp>
        <p:nvSpPr>
          <p:cNvPr id="15" name="Shape 11"/>
          <p:cNvSpPr/>
          <p:nvPr/>
        </p:nvSpPr>
        <p:spPr>
          <a:xfrm>
            <a:off x="3314700" y="42976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icons/databas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8431" y="4431411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880360" y="4983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880360" y="5303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192.168.1.20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inventario_itu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349240" y="1828800"/>
            <a:ext cx="6263640" cy="420624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/>
        </p:spPr>
      </p:sp>
      <p:sp>
        <p:nvSpPr>
          <p:cNvPr id="20" name="Text 15"/>
          <p:cNvSpPr/>
          <p:nvPr/>
        </p:nvSpPr>
        <p:spPr>
          <a:xfrm>
            <a:off x="5577840" y="20116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Lubuntu — Minikube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5577840" y="2606040"/>
            <a:ext cx="1828800" cy="13716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/>
        </p:spPr>
      </p:sp>
      <p:sp>
        <p:nvSpPr>
          <p:cNvPr id="22" name="Shape 17"/>
          <p:cNvSpPr/>
          <p:nvPr/>
        </p:nvSpPr>
        <p:spPr>
          <a:xfrm>
            <a:off x="6240780" y="27432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3" descr="icons/reac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937" y="2856357"/>
            <a:ext cx="276606" cy="27660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77840" y="3319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577840" y="3593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635240" y="2606040"/>
            <a:ext cx="1828800" cy="13716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/>
        </p:spPr>
      </p:sp>
      <p:sp>
        <p:nvSpPr>
          <p:cNvPr id="27" name="Shape 21"/>
          <p:cNvSpPr/>
          <p:nvPr/>
        </p:nvSpPr>
        <p:spPr>
          <a:xfrm>
            <a:off x="8298180" y="27432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8" name="Image 4" descr="icons/serve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1337" y="2856357"/>
            <a:ext cx="276606" cy="27660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635240" y="3319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7635240" y="3593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9692640" y="2606040"/>
            <a:ext cx="1828800" cy="13716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/>
        </p:spPr>
      </p:sp>
      <p:sp>
        <p:nvSpPr>
          <p:cNvPr id="32" name="Shape 25"/>
          <p:cNvSpPr/>
          <p:nvPr/>
        </p:nvSpPr>
        <p:spPr>
          <a:xfrm>
            <a:off x="10355580" y="27432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3" name="Image 5" descr="icons/databas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8737" y="2856357"/>
            <a:ext cx="276606" cy="27660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692640" y="3319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9692640" y="3593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5577840" y="427024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NetworkPolicies default-deny + reglas explícitas entre pods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5577840" y="4636008"/>
            <a:ext cx="457200" cy="45720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38" name="Image 6" descr="icons/cogs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0710" y="4738878"/>
            <a:ext cx="251460" cy="25146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172200" y="4690872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Runner (self-hosted) corre dentro de esta misma VM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2468880" y="3200400"/>
            <a:ext cx="32004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1" name="Shape 32"/>
          <p:cNvSpPr/>
          <p:nvPr/>
        </p:nvSpPr>
        <p:spPr>
          <a:xfrm>
            <a:off x="4983480" y="3200400"/>
            <a:ext cx="3657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2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EGI — Sistema de Gestión de Inventario</a:t>
            </a:r>
            <a:endParaRPr lang="en-US" sz="900" dirty="0"/>
          </a:p>
        </p:txBody>
      </p:sp>
      <p:sp>
        <p:nvSpPr>
          <p:cNvPr id="43" name="Text 3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utilizadas en cada capa del sistema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EAF1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0574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reac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0492" y="22219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71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42900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29000" y="178308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66260" y="20574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s/server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852" y="22219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971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749040" y="342900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(jsonwebtoken)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ldapts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309360" y="178308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EAF1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46620" y="20574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icons/databas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212" y="22219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2971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629400" y="342900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(mssql)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189720" y="178308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126980" y="20574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icons/docker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1572" y="222199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72600" y="2971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509760" y="342900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(Minikube)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EGI — Sistema de Gestión de Inventario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datos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fuentes especializadas, una por dominio de información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57400" y="205740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ons/databas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2566" y="2242566"/>
            <a:ext cx="452628" cy="452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063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3429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machines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43000" y="393192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hostname, lab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tipo, estado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de alta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52160" y="205740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icons/server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326" y="2242566"/>
            <a:ext cx="452628" cy="4526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3063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572000" y="3429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colección hardware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937760" y="393192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detalladas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cambios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36676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646920" y="205740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2" descr="icons/usershield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2086" y="2242566"/>
            <a:ext cx="452628" cy="4526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66760" y="3063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366760" y="3429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y grupos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732520" y="393192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OU=EGI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GRP_&lt;Rol&gt;_Lab###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memberOf → rol y labs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EGI — Sistema de Gestión de Inventario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aplicados en cada capa de la aplicación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031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lock_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22199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299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con aud / iss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554480" y="254203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firmados con audience e issuer validados en cada request.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34840" y="18288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/>
        </p:spPr>
      </p:sp>
      <p:sp>
        <p:nvSpPr>
          <p:cNvPr id="10" name="Shape 7"/>
          <p:cNvSpPr/>
          <p:nvPr/>
        </p:nvSpPr>
        <p:spPr>
          <a:xfrm>
            <a:off x="4663440" y="21031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s/shield_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222199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20299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por rol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394960" y="254203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endpoint exige permiso explícito según el rol del usuario.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75320" y="18288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/>
        </p:spPr>
      </p:sp>
      <p:sp>
        <p:nvSpPr>
          <p:cNvPr id="15" name="Shape 11"/>
          <p:cNvSpPr/>
          <p:nvPr/>
        </p:nvSpPr>
        <p:spPr>
          <a:xfrm>
            <a:off x="8503920" y="21031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icons/network_i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2" y="222199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35440" y="20299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NetworkPolicies en K8s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9235440" y="254203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default-deny; solo el tráfico necesario entre pods.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94360" y="393192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4206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icons/database_i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32511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1330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con autenticación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554480" y="464515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restringido con usuario y contraseña dedicados.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434840" y="393192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/>
        </p:spPr>
      </p:sp>
      <p:sp>
        <p:nvSpPr>
          <p:cNvPr id="25" name="Shape 19"/>
          <p:cNvSpPr/>
          <p:nvPr/>
        </p:nvSpPr>
        <p:spPr>
          <a:xfrm>
            <a:off x="4663440" y="4206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icons/check_ic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312" y="4325112"/>
            <a:ext cx="356616" cy="35661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94960" y="41330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de inyección LDAP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394960" y="464515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Sanitización de filtros y DN antes de cada consulta a AD.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275320" y="393192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/>
        </p:spPr>
      </p:sp>
      <p:sp>
        <p:nvSpPr>
          <p:cNvPr id="30" name="Shape 23"/>
          <p:cNvSpPr/>
          <p:nvPr/>
        </p:nvSpPr>
        <p:spPr>
          <a:xfrm>
            <a:off x="8503920" y="4206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icons/users_ic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2792" y="4325112"/>
            <a:ext cx="356616" cy="35661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35440" y="41330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de intentos fallidos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9235440" y="464515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logins fallidos para detección de abuso.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EGI — Sistema de Gestión de Inventario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con runner self-hosted en Lubuntu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EAF1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03020" y="23317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branch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6751" y="246545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4088" y="306324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a main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04088" y="361188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Disparador del pipeline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606040" y="3154680"/>
            <a:ext cx="2286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834640" y="210312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EAF1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43300" y="23317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icons/che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031" y="2465451"/>
            <a:ext cx="326898" cy="32689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44368" y="306324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ci.yml (GitHub-hosted)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944368" y="361188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+ typecheck + build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846320" y="3154680"/>
            <a:ext cx="2286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074920" y="210312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EAF1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83580" y="23317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icons/docker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311" y="2465451"/>
            <a:ext cx="326898" cy="32689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84648" y="306324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push de imágenes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184648" y="361188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GHCR, en el runner self-hosted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7086600" y="3154680"/>
            <a:ext cx="2286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7315200" y="210312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EAF1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023860" y="23317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icons/cog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7591" y="2465451"/>
            <a:ext cx="326898" cy="32689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24928" y="306324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apply + rollout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7424928" y="361188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en Minikube (Lubuntu)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9326880" y="3154680"/>
            <a:ext cx="2286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9555480" y="210312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EAF1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264140" y="23317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4" descr="icons/chec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7871" y="2465451"/>
            <a:ext cx="326898" cy="32689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65208" y="306324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 post-deploy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9665208" y="361188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automática del servicio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731520" y="48463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ci.yml corre en runners de GitHub (ubuntu-latest). deploy.yml corre en el runner self-hosted instalado en la VM Lubuntu, con acceso directo al cluster Minikube.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EGI — Sistema de Gestión de Inventario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por la aplicación según el rol del usuario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71500" y="1783080"/>
            <a:ext cx="2057400" cy="2377440"/>
          </a:xfrm>
          <a:prstGeom prst="roundRect">
            <a:avLst>
              <a:gd name="adj" fmla="val 355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2011680"/>
            <a:ext cx="548640" cy="54864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6" name="Image 0" descr="icons/usershiel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9324" y="213512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2940" y="26974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sysadmin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08660" y="30632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total: todos los laboratorios, gestión de usuarios AD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628900" y="2971800"/>
            <a:ext cx="1828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811780" y="1783080"/>
            <a:ext cx="2057400" cy="2377440"/>
          </a:xfrm>
          <a:prstGeom prst="roundRect">
            <a:avLst>
              <a:gd name="adj" fmla="val 355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66160" y="2011680"/>
            <a:ext cx="548640" cy="54864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12" name="Image 1" descr="icons/usershield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604" y="213512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03220" y="26974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948940" y="30632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total del inventario, sin gestión de usuarios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869180" y="2971800"/>
            <a:ext cx="1828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052060" y="1783080"/>
            <a:ext cx="2057400" cy="2377440"/>
          </a:xfrm>
          <a:prstGeom prst="roundRect">
            <a:avLst>
              <a:gd name="adj" fmla="val 355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806440" y="2011680"/>
            <a:ext cx="548640" cy="54864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18" name="Image 2" descr="icons/usershield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884" y="2135124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43500" y="26974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189220" y="30632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y edición de equipos solo en su laboratorio asignado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7109460" y="2971800"/>
            <a:ext cx="1828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7292340" y="1783080"/>
            <a:ext cx="2057400" cy="2377440"/>
          </a:xfrm>
          <a:prstGeom prst="roundRect">
            <a:avLst>
              <a:gd name="adj" fmla="val 355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046720" y="2011680"/>
            <a:ext cx="548640" cy="54864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24" name="Image 3" descr="icons/usershield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164" y="2135124"/>
            <a:ext cx="301752" cy="30175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83780" y="26974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429500" y="30632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limitadas sobre equipos de su laboratorio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9349740" y="2971800"/>
            <a:ext cx="1828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9532620" y="1783080"/>
            <a:ext cx="2057400" cy="2377440"/>
          </a:xfrm>
          <a:prstGeom prst="roundRect">
            <a:avLst>
              <a:gd name="adj" fmla="val 355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287000" y="2011680"/>
            <a:ext cx="548640" cy="54864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30" name="Image 4" descr="icons/usershield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0444" y="2135124"/>
            <a:ext cx="301752" cy="30175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24060" y="26974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readonly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9669780" y="30632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lectura del inventario de su laboratorio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731520" y="4434840"/>
            <a:ext cx="10698480" cy="1554480"/>
          </a:xfrm>
          <a:prstGeom prst="roundRect">
            <a:avLst>
              <a:gd name="adj" fmla="val 4706"/>
            </a:avLst>
          </a:prstGeom>
          <a:solidFill>
            <a:srgbClr val="EAF1FC"/>
          </a:solidFill>
          <a:ln w="12700">
            <a:solidFill>
              <a:srgbClr val="CADCFC"/>
            </a:solidFill>
            <a:prstDash val="dash"/>
          </a:ln>
        </p:spPr>
      </p:sp>
      <p:sp>
        <p:nvSpPr>
          <p:cNvPr id="34" name="Text 27"/>
          <p:cNvSpPr/>
          <p:nvPr/>
        </p:nvSpPr>
        <p:spPr>
          <a:xfrm>
            <a:off x="914400" y="4572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para demo en vivo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914400" y="49377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la defensa: mostrar login y pantallas reales del sistema para cada rol indicado arriba.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EGI — Sistema de Gestión de Inventario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20040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5" name="Image 0" descr="icons/chec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237" y="1667637"/>
            <a:ext cx="276606" cy="2766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49047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EGI centraliza el inventario de laboratorios en una única fuente de verdad, reemplazando planillas dispersas.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8" name="Image 1" descr="icons/chec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37" y="2719197"/>
            <a:ext cx="276606" cy="27660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54203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autenticación contra Active Directory elimina la gestión de credenciales propias y aprovecha la identidad corporativa existente.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40080" y="3657600"/>
            <a:ext cx="502920" cy="50292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11" name="Image 2" descr="icons/check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37" y="3770757"/>
            <a:ext cx="276606" cy="27660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359359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roles y permisos por laboratorio garantiza que cada usuario opere solo dentro de su alcance.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40080" y="4709160"/>
            <a:ext cx="502920" cy="50292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14" name="Image 3" descr="icons/check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237" y="4822317"/>
            <a:ext cx="276606" cy="27660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1600" y="464515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infraestructura sobre Kubernetes con NetworkPolicies y CI/CD automatizado deja una base lista para producción real.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640080" y="5989320"/>
            <a:ext cx="36576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640080" y="6126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EGI — Sistema de Gestión de Inventario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EGI — Sistema de Gestión de Inventario de Equipos</dc:title>
  <dc:subject>PptxGenJS Presentation</dc:subject>
  <dc:creator>López Videla Maximiliano, Becerra Micaela, Rossi Franco, Cesar Marín</dc:creator>
  <cp:lastModifiedBy>López Videla Maximiliano, Becerra Micaela, Rossi Franco, Cesar Marín</cp:lastModifiedBy>
  <cp:revision>1</cp:revision>
  <dcterms:created xsi:type="dcterms:W3CDTF">2026-06-21T00:27:08Z</dcterms:created>
  <dcterms:modified xsi:type="dcterms:W3CDTF">2026-06-21T00:27:08Z</dcterms:modified>
</cp:coreProperties>
</file>